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HBM TAM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2026E</c:v>
                  </c:pt>
                  <c:pt idx="4">
                    <c:v>2028E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16</c:v>
                </c:pt>
                <c:pt idx="2">
                  <c:v>38</c:v>
                </c:pt>
                <c:pt idx="3">
                  <c:v>58</c:v>
                </c:pt>
                <c:pt idx="4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infrastructure, the market, and the risks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0" y="1828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2026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/>
        </p:spPr>
      </p:sp>
      <p:sp>
        <p:nvSpPr>
          <p:cNvPr id="4" name="Text 2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73152" cy="50292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1353312"/>
            <a:ext cx="6858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AI matters, the stack, the supply chain, power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73152" cy="5029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373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7160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1993392"/>
            <a:ext cx="6858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Capex, semiconductors, memory, AI labs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73152" cy="502920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3774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71600" y="2377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Shifts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633472"/>
            <a:ext cx="6858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AI, hardware vs. software divergence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73152" cy="50292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0175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371600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Risks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3273552"/>
            <a:ext cx="6858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Bubble question, supply chain, policy, politics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73152" cy="50292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6576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0" y="3657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Frontier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71600" y="3913632"/>
            <a:ext cx="6858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compute, humanoids, autonomous vehicles, healthcare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4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the largest capital expenditure cycle in history.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Amazon, Alphabet, Microsoft, Meta, and Oracle spent ~$443B in combined 2025 capex — with 2026 estimates approaching $750B. Cumulative AI data center investment is on track to exceed $2 trillion by 2030.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touches every layer of the economy.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raw silicon in the ground, to the chips in a data center, to the AI agent booking your flight — this is a full-stack economic transformation.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market is repricing everything.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Semiconductor stocks (SOXX) up ~13% YTD. Software stocks (IGV) down ~20% YTD. A 33-point spread — the same AI wave is creating winners and losers simultaneously.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earnings guidance (Q4 2025/Q1 2026), Bloomberg, S&amp;P Global Market Intelligence. Data updated via web search, March 2026.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AI?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paradigms of artificial intelligence — each building on the last.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8229600" cy="0"/>
          </a:xfrm>
          <a:prstGeom prst="line">
            <a:avLst/>
          </a:prstGeom>
          <a:noFill/>
          <a:ln w="38100">
            <a:solidFill>
              <a:srgbClr val="F66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000" y="2148840"/>
            <a:ext cx="182880" cy="182880"/>
          </a:xfrm>
          <a:prstGeom prst="ellipse">
            <a:avLst/>
          </a:prstGeom>
          <a:solidFill>
            <a:srgbClr val="666666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468880"/>
            <a:ext cx="1554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468880"/>
            <a:ext cx="54864" cy="1280160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48640" y="2788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1089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34640" y="2148840"/>
            <a:ext cx="182880" cy="182880"/>
          </a:xfrm>
          <a:prstGeom prst="ellipse">
            <a:avLst/>
          </a:prstGeom>
          <a:solidFill>
            <a:srgbClr val="666666"/>
          </a:solidFill>
          <a:ln/>
        </p:spPr>
      </p:sp>
      <p:sp>
        <p:nvSpPr>
          <p:cNvPr id="14" name="Shape 12"/>
          <p:cNvSpPr/>
          <p:nvPr/>
        </p:nvSpPr>
        <p:spPr>
          <a:xfrm>
            <a:off x="2148840" y="2468880"/>
            <a:ext cx="1554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48840" y="2468880"/>
            <a:ext cx="54864" cy="1280160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16" name="Text 14"/>
          <p:cNvSpPr/>
          <p:nvPr/>
        </p:nvSpPr>
        <p:spPr>
          <a:xfrm>
            <a:off x="224028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1990s–2010s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240280" y="2788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240280" y="31089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pattern recognition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26280" y="2148840"/>
            <a:ext cx="182880" cy="182880"/>
          </a:xfrm>
          <a:prstGeom prst="ellipse">
            <a:avLst/>
          </a:prstGeom>
          <a:solidFill>
            <a:srgbClr val="66666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40480" y="2468880"/>
            <a:ext cx="1554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0480" y="2468880"/>
            <a:ext cx="54864" cy="1280160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22" name="Text 20"/>
          <p:cNvSpPr/>
          <p:nvPr/>
        </p:nvSpPr>
        <p:spPr>
          <a:xfrm>
            <a:off x="393192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2012–2020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931920" y="2788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931920" y="31089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at scale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17920" y="2148840"/>
            <a:ext cx="182880" cy="182880"/>
          </a:xfrm>
          <a:prstGeom prst="ellipse">
            <a:avLst/>
          </a:prstGeom>
          <a:solidFill>
            <a:srgbClr val="666666"/>
          </a:solidFill>
          <a:ln/>
        </p:spPr>
      </p:sp>
      <p:sp>
        <p:nvSpPr>
          <p:cNvPr id="26" name="Shape 24"/>
          <p:cNvSpPr/>
          <p:nvPr/>
        </p:nvSpPr>
        <p:spPr>
          <a:xfrm>
            <a:off x="5532120" y="2468880"/>
            <a:ext cx="1554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32120" y="2468880"/>
            <a:ext cx="54864" cy="1280160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28" name="Text 26"/>
          <p:cNvSpPr/>
          <p:nvPr/>
        </p:nvSpPr>
        <p:spPr>
          <a:xfrm>
            <a:off x="562356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2020–2024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623560" y="2788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23560" y="31089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text, images, code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909560" y="2148840"/>
            <a:ext cx="182880" cy="182880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32" name="Shape 30"/>
          <p:cNvSpPr/>
          <p:nvPr/>
        </p:nvSpPr>
        <p:spPr>
          <a:xfrm>
            <a:off x="7223760" y="2468880"/>
            <a:ext cx="1554480" cy="128016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315200" y="2788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315200" y="31089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multi-step action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7" name="Text 35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STACK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silicon to autonomous agents — the complete ecosystem.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09728" cy="256032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344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&amp; Agents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291840" y="1234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Salesforce, ServiceNow, Palantir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109728" cy="256032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5087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&amp; AI Platforms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91840" y="15087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OpenAI, Anthropic, Google DeepMind, Meta AI, Mistral, xAI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1783080"/>
            <a:ext cx="109728" cy="256032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17830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/ Data Centers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91840" y="1783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AWS, Azure, GCP, Oracle, CoreWeave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057400"/>
            <a:ext cx="109728" cy="256032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0574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&amp; Networking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291840" y="20574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Dell, HPE, Arista, Cisco, Coherent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109728" cy="256032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23317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 / OSAT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91840" y="23317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ASE, Amkor, TSMC (in-house CoWoS)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109728" cy="256032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291840" y="26060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Hynix, Samsung, Micron (~95% market)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80360"/>
            <a:ext cx="109728" cy="256032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28803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291840" y="2880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NVIDIA, AMD, Broadcom, Qualcomm, Marvell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154680"/>
            <a:ext cx="109728" cy="256032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1546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 / Fabrication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291840" y="31546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(~90% advanced), Samsung Foundry, Intel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3429000"/>
            <a:ext cx="109728" cy="256032"/>
          </a:xfrm>
          <a:prstGeom prst="rect">
            <a:avLst/>
          </a:prstGeom>
          <a:solidFill>
            <a:srgbClr val="E8478D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34290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2918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(EUV monopoly), Applied Materials, Lam Research, Tokyo Electron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703320"/>
            <a:ext cx="109728" cy="256032"/>
          </a:xfrm>
          <a:prstGeom prst="rect">
            <a:avLst/>
          </a:prstGeom>
          <a:solidFill>
            <a:srgbClr val="E8478D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37033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3291840" y="3703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rare earths, helium, neon, photoresists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Industry analysis, company filings.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8" name="Text 36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WHERE CHIPS COME FROM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1828800"/>
          </a:xfrm>
          <a:prstGeom prst="rect">
            <a:avLst/>
          </a:prstGeom>
          <a:solidFill>
            <a:srgbClr val="E5E5E5"/>
          </a:solidFill>
          <a:ln w="12700">
            <a:solidFill>
              <a:srgbClr val="CCCCCC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91440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stylized world map with labeled chip supply chain regions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20116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914400"/>
            <a:ext cx="54864" cy="64008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9" name="Text 7"/>
          <p:cNvSpPr/>
          <p:nvPr/>
        </p:nvSpPr>
        <p:spPr>
          <a:xfrm>
            <a:off x="4864608" y="9144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States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&amp; Software — ~50% global chip design revenue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Limited advanced manufacturing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858000" y="914400"/>
            <a:ext cx="20116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0" y="914400"/>
            <a:ext cx="54864" cy="64008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2" name="Text 10"/>
          <p:cNvSpPr/>
          <p:nvPr/>
        </p:nvSpPr>
        <p:spPr>
          <a:xfrm>
            <a:off x="6967728" y="9144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Factory Floor — TSMC: ~90% most advanced chips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SINGLE POINT OF FAILURE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754880" y="1600200"/>
            <a:ext cx="20116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1600200"/>
            <a:ext cx="54864" cy="64008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5" name="Text 13"/>
          <p:cNvSpPr/>
          <p:nvPr/>
        </p:nvSpPr>
        <p:spPr>
          <a:xfrm>
            <a:off x="4864608" y="1600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Korea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Capital — Samsung + SK Hynix: ~70% DRAM, ~62% HBM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Helium dependence on Qatar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858000" y="1600200"/>
            <a:ext cx="20116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1600200"/>
            <a:ext cx="54864" cy="64008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18" name="Text 16"/>
          <p:cNvSpPr/>
          <p:nvPr/>
        </p:nvSpPr>
        <p:spPr>
          <a:xfrm>
            <a:off x="6967728" y="1600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Netherlands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Gatekeeper — ASML: sole EUV manufacturer ($380M/machine)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Single-company dependency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2926080"/>
            <a:ext cx="26517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926080"/>
            <a:ext cx="54864" cy="640080"/>
          </a:xfrm>
          <a:prstGeom prst="rect">
            <a:avLst/>
          </a:prstGeom>
          <a:solidFill>
            <a:srgbClr val="E8478D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29260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Japan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Backbone — ~50% of key semiconductor materials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Aging demographics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291840" y="2926080"/>
            <a:ext cx="26517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926080"/>
            <a:ext cx="54864" cy="640080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24" name="Text 22"/>
          <p:cNvSpPr/>
          <p:nvPr/>
        </p:nvSpPr>
        <p:spPr>
          <a:xfrm>
            <a:off x="3401568" y="29260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Wildcard — Largest wafer capacity, mature nodes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Cut off from EUV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26480" y="2926080"/>
            <a:ext cx="26517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2926080"/>
            <a:ext cx="54864" cy="64008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6236208" y="29260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East (Qatar)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Gas Supplier — ~1/3 of global helium supply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Hormuz/Iran risk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57200" y="3657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SIA, SEMI, company disclosures, USGS.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POWERING THE BUILDOUT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754880" y="914400"/>
            <a:ext cx="3931920" cy="1645920"/>
          </a:xfrm>
          <a:prstGeom prst="rect">
            <a:avLst/>
          </a:prstGeom>
          <a:solidFill>
            <a:srgbClr val="E5E5E5"/>
          </a:solidFill>
          <a:ln w="12700">
            <a:solidFill>
              <a:srgbClr val="CCCCCC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754880" y="9144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data center or power plant aerial photo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Demand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electricity consumption:</a:t>
            </a:r>
            <a:endParaRPr lang="en-US" sz="12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 TWh (2020) → 325 TWh (2024) → 500 TWh (2026E) → 1,000 TWh (2030E)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Currently 4.4% of US electricity, projected 12% by 2030. Grid queue: 2,600 GW waiting, 3–5 year wait.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Nuclear Deals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Microsoft: Three Mile Island restart (835 MW). Google Kairos SMR: 500 MW by 2030. Amazon: 3 nuclear investments. Oracle: nuclear-powered DCs. Meta: seeking 1–4 GW nuclear.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Gas Turbines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Colossus 2: 41 gas turbines (1.2 GW behind-the-meter). GE Vernova: 80 GW backlog, $150B pending orders.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54880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 TWh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75488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2026E DC power consumption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858000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2,600 GW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85800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interconnection queue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IEA, EIA, company announcements, PJM Interconnection.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WHO IS BUYING ALL THESE CHIPS?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754880" y="1828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$750B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754880" y="777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hyperscaler 2026E capex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Capital Expenditure ($ Billions)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4114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Amazon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Alphabet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Microsoft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$37B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$60-65B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Oracle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Expanding buyer base: AI labs (OpenAI, Anthropic), neoclouds (CoreWeave, Lambda), governments, enterprises.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earnings calls, Bloomberg estimates. Figures updated March 2026.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10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4" name="Text 11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$975B SEMICONDUCTOR MARKET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+ Memory = ~70% of the market — AI's center of gravity. WSTS forecasts $975B for 2026.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657600" cy="27432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7" name="Text 5"/>
          <p:cNvSpPr/>
          <p:nvPr/>
        </p:nvSpPr>
        <p:spPr>
          <a:xfrm>
            <a:off x="425196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(GPUs, CPUs, accelerators)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0" y="1417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~$390B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2743200" cy="2743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0" name="Text 8"/>
          <p:cNvSpPr/>
          <p:nvPr/>
        </p:nvSpPr>
        <p:spPr>
          <a:xfrm>
            <a:off x="333756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(DRAM + NAND + HBM)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315200" y="1828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~$290B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914400" cy="274320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3" name="Text 11"/>
          <p:cNvSpPr/>
          <p:nvPr/>
        </p:nvSpPr>
        <p:spPr>
          <a:xfrm>
            <a:off x="1508760" y="2240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315200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~$95B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457200" cy="27432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26517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315200" y="2651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~$50B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063240"/>
            <a:ext cx="731520" cy="274320"/>
          </a:xfrm>
          <a:prstGeom prst="rect">
            <a:avLst/>
          </a:prstGeom>
          <a:solidFill>
            <a:srgbClr val="E8478D"/>
          </a:solidFill>
          <a:ln/>
        </p:spPr>
      </p:sp>
      <p:sp>
        <p:nvSpPr>
          <p:cNvPr id="19" name="Text 17"/>
          <p:cNvSpPr/>
          <p:nvPr/>
        </p:nvSpPr>
        <p:spPr>
          <a:xfrm>
            <a:off x="1325880" y="3063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Optoelectronics &amp; Sensors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15200" y="3063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~$80B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1005840" cy="274320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22" name="Text 20"/>
          <p:cNvSpPr/>
          <p:nvPr/>
        </p:nvSpPr>
        <p:spPr>
          <a:xfrm>
            <a:off x="1600200" y="3474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31520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~$110B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931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+ Memory = ~$680B (~70% of total) — AI's center of gravity.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2519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WSTS, SIA, Gartner, SEMI. 2025 actual: $796B. 2026 WSTS forecast: $975B.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6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MEMORY WALL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is the binding constraint in AI infrastructure.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Total Addressable Market ($B)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457200" y="178308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75488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Metrics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75488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1828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57%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754880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HBM share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766560" y="1828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766560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HBM share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754880" y="2651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21%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4754880" y="3108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HBM share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4754880" y="32461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Bandwidth Comparison</a:t>
            </a:r>
            <a:endParaRPr lang="en-US" sz="1000" dirty="0"/>
          </a:p>
          <a:p>
            <a:pPr indent="0" marL="0">
              <a:buNone/>
            </a:pPr>
            <a:r>
              <a:rPr lang="en-US" sz="9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DDR5: 50 GB/s  |  HBM3E: 1,200 GB/s  |  HBM4: 2,000+ GB/s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memory market: ~$190B in 2025. DRAM ASP forecast +20–30% YoY.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TrendForce, company disclosures, industry estimates. Market share approximate and shifting.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7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8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LAB RACE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Mostly private. Revenue growing explosively but profitability uncertain.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73152" cy="68580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63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OpenAI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00400" y="1463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$840B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200400" y="1874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0" y="14630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$25B ARR (Feb 2026)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40280"/>
            <a:ext cx="73152" cy="68580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2402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Anthropic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200400" y="22402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$380B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200400" y="26517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943600" y="22402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$19B ARR, $30B round (Feb 2026)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017520"/>
            <a:ext cx="8229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017520"/>
            <a:ext cx="73152" cy="68580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017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xAI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200400" y="3017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$230B+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3200400" y="3429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943600" y="3017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$20B round (Jan 2026)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PitchBook, press reports, company statements. Valuations as of Q1 2026. Updated via web search.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4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A854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CHATBOTS TO COWORKERS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754880" y="182880"/>
            <a:ext cx="3931920" cy="1188720"/>
          </a:xfrm>
          <a:prstGeom prst="rect">
            <a:avLst/>
          </a:prstGeom>
          <a:solidFill>
            <a:srgbClr val="E5E5E5"/>
          </a:solidFill>
          <a:ln w="12700">
            <a:solidFill>
              <a:srgbClr val="CCCCCC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754880" y="18288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chatbot vs. agent comparison illustration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Chatbots (2023–2024)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78308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query, human-in-the-loop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types prompt, model responds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~1x compute per user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tool integration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(2025+)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75488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78308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autonomous workflows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use: browse, code, execute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10–100x more compute per user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replace entire workflows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2918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Implication: Inference compute demand explodes. Software vendors must adapt or be replaced.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Industry analysis, OpenAI, Anthropic product updates.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A854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GREAT DIVERGENCE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Winners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3931920" cy="320040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7830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SOXX (Semiconductor ETF) YTD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+16%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45920" y="2240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(MU)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606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+16%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45920" y="2606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+12%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45920" y="2971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+10%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45920" y="3337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(TSM)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5488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Losers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5488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0" y="1783080"/>
            <a:ext cx="3931920" cy="32004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17830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IGV (Software ETF) YTD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54880" y="2240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-25%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43600" y="2240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(ADBE)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54880" y="25420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-22%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0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Shopify (SHOP)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54880" y="2843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-20%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943600" y="28437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 (CRM)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54880" y="314553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-18%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43600" y="31455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Intuit (INTU)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548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-15%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943600" y="3447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(NOW)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754880" y="3749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-12%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436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(MSFT)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37947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 vs. SaaS decline — the same AI wave is bifurcating the market.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Bloomberg, as of March 2026. YTD returns. Updated via web search.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7" name="Text 35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 THIS A BUBBLE?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Comparing the Dotcom era (2000) to the AI buildout (2026).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Dotcom 2000 vs. AI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Dotcom 2000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Valuations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Nasdaq P/E &gt; 100x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Speculative, revenue-free IPOs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Mag-7 P/E ~30x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Premium but earnings-backed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Profitability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Most companies burned cash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Negative unit economics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NVIDIA: 75% gross margin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Mag-7: 26% avg net margin (2x S&amp;P)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Supply/Demand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Build-it-and-they-will-come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Overbuilt fiber, underused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&gt; supply for GPUs, HBM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Wait lists, not gluts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Leveraged, fragile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Dependent on equity markets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Mag-7: $500B+ net cash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Self-funding capex from operations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Growth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Hype-driven, collapse followed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often fictional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NVIDIA: $130B+ revenue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AI revenue doubling annually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3840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repeat of 2000 — but pockets of excess exist.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Bloomberg, Refinitiv, company filings, Morningstar.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2" name="Text 9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3" name="Text 10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SUPPLY CHAIN FRAGILITY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critical risk vectors threatening the AI buildout.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51760" cy="32004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Geographic Concentration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2651760" cy="1645920"/>
          </a:xfrm>
          <a:prstGeom prst="rect">
            <a:avLst/>
          </a:prstGeom>
          <a:noFill/>
          <a:ln/>
        </p:spPr>
        <p:txBody>
          <a:bodyPr wrap="square" lIns="38100" tIns="127000" rIns="63500" bIns="3810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 (TSMC): ~90% advanced chips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Korea: ~70% DRAM, ~62% HBM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Netherlands (ASML): sole EUV supplier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points of failure across the stack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51760" cy="3200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1371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91840" y="1783080"/>
            <a:ext cx="2651760" cy="1645920"/>
          </a:xfrm>
          <a:prstGeom prst="rect">
            <a:avLst/>
          </a:prstGeom>
          <a:noFill/>
          <a:ln/>
        </p:spPr>
        <p:txBody>
          <a:bodyPr wrap="square" lIns="38100" tIns="127000" rIns="63500" bIns="3810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Act: $52.7B authorized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~$33.7B committed so far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Arizona: delayed, over budget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years from meaningful capacity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651760" cy="32004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371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/ Hormuz Crisis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0" y="1783080"/>
            <a:ext cx="2651760" cy="1645920"/>
          </a:xfrm>
          <a:prstGeom prst="rect">
            <a:avLst/>
          </a:prstGeom>
          <a:noFill/>
          <a:ln/>
        </p:spPr>
        <p:txBody>
          <a:bodyPr wrap="square" lIns="38100" tIns="127000" rIns="63500" bIns="3810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Strait of Hormuz escalation risk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price spike to $100+/bbl scenario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Qatar helium supply disrupted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S. Korea: 64.7% helium from Qatar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8229600" cy="5029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204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Hormuz Scenarios:  </a:t>
            </a:r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2-week resolution (minimal)  |  </a:t>
            </a:r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2–8 weeks (spot +40–60%)  |  </a:t>
            </a:r>
            <a:pPr indent="0" marL="0">
              <a:buNone/>
            </a:pPr>
            <a:r>
              <a:rPr lang="en-US" sz="9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 damage at Ras Laffan (1+ year structural shortage)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SIA, CHIPS Act tracker, Reuters, USGS.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IS RESHAPING THE MAP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0" y="1188720"/>
            <a:ext cx="9144000" cy="283464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POLICY LANDSCAPE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2651760" cy="2194560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600200"/>
            <a:ext cx="2651760" cy="4572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691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011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$5.5B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94360" y="24688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H20 write-down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94360" y="27889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banned from China. ASML advanced DUV tools banned. Diffusion rule limits chip exports to 140+ countries.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600200"/>
            <a:ext cx="2651760" cy="2194560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14" name="Shape 12"/>
          <p:cNvSpPr/>
          <p:nvPr/>
        </p:nvSpPr>
        <p:spPr>
          <a:xfrm>
            <a:off x="3291840" y="1600200"/>
            <a:ext cx="265176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5" name="Text 13"/>
          <p:cNvSpPr/>
          <p:nvPr/>
        </p:nvSpPr>
        <p:spPr>
          <a:xfrm>
            <a:off x="3429000" y="1691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29000" y="2011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Aug 2026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429000" y="24688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high-risk enforcement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429000" y="27889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global revenue. Only 36% of enterprises feel prepared.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600200"/>
            <a:ext cx="2651760" cy="2194560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20" name="Shape 18"/>
          <p:cNvSpPr/>
          <p:nvPr/>
        </p:nvSpPr>
        <p:spPr>
          <a:xfrm>
            <a:off x="6126480" y="1600200"/>
            <a:ext cx="2651760" cy="4572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6263640" y="1691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63640" y="2011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~90%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263640" y="24688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China's rare earth processing share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263640" y="27889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 earth processing. SMIC 5nm yield ~20% vs. &gt;70% threshold.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069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has cleaved the AI supply chain into US-aligned and China-aligned blocs.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297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BIS, EU AI Act text, NVIDIA filings, CSIS.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6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POLITICAL HEADWINDS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754880" y="137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$98B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754880" y="594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projects stalled by local opposition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858000" y="1371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439K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858000" y="594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shortage in construction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54864" cy="45720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097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Opposition &amp; Moratoriums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Virginia, Wisconsin, South Carolina moratoriums on new data centers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627632"/>
            <a:ext cx="54864" cy="45720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627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Permitting &amp; Regulatory Delays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NEPA adds 2–4 years. Grid queue: 2,600 GW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54864" cy="45720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15798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 &amp; Trade Policy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bans, ASML restrictions, rare earth retaliation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688336"/>
            <a:ext cx="54864" cy="45720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68833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Sovereignty &amp; Compliance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costs, data localization, CHIPS Act subsidies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246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 TIMELINE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520440"/>
            <a:ext cx="1371600" cy="411480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520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Selection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 mo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828800" y="3520440"/>
            <a:ext cx="2743200" cy="41148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21" name="Text 19"/>
          <p:cNvSpPr/>
          <p:nvPr/>
        </p:nvSpPr>
        <p:spPr>
          <a:xfrm>
            <a:off x="1828800" y="35204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Review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12–48 mo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3520440"/>
            <a:ext cx="2560320" cy="41148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0" y="3520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Interconnection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36–60 mo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132320" y="3520440"/>
            <a:ext cx="1554480" cy="41148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0" y="3520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18–36 mo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McKinsey, DOE, PJM, state government records.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6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COMPUTING BEYOND EARTH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permits. Unlimited solar. Compute above borders.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754880" y="822960"/>
            <a:ext cx="3931920" cy="914400"/>
          </a:xfrm>
          <a:prstGeom prst="rect">
            <a:avLst/>
          </a:prstGeom>
          <a:solidFill>
            <a:srgbClr val="E5E5E5"/>
          </a:solidFill>
          <a:ln w="12700">
            <a:solidFill>
              <a:srgbClr val="CCCCCC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754880" y="8229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orbital data center or satellite constellation concept art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41148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920240"/>
            <a:ext cx="4114800" cy="4572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11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(Lonestar)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286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H100 in space (Nov 2025), first LLM trained in orbit (Dec 2025), 88K-satellite filing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1920240"/>
            <a:ext cx="41148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920240"/>
            <a:ext cx="411480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2011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SpaceX / xAI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92040" y="2286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application for up to 1M orbital DC satellites (Jan 2026) after $1.25T merger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41148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834640"/>
            <a:ext cx="4114800" cy="45720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Suncatcher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3200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Radiation-hardened TPUs, 1.6 Tbps optical links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2834640"/>
            <a:ext cx="41148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54880" y="2834640"/>
            <a:ext cx="4114800" cy="4572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22" name="Text 20"/>
          <p:cNvSpPr/>
          <p:nvPr/>
        </p:nvSpPr>
        <p:spPr>
          <a:xfrm>
            <a:off x="489204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Aetherflux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92040" y="3200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$50M Series A, orbital compute + power beaming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FCC filings, company announcements, TechCrunch.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4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PHYSICAL AI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are the next inference endpoints.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3931920" cy="2286000"/>
          </a:xfrm>
          <a:prstGeom prst="rect">
            <a:avLst/>
          </a:prstGeom>
          <a:solidFill>
            <a:srgbClr val="E5E5E5"/>
          </a:solidFill>
          <a:ln w="12700">
            <a:solidFill>
              <a:srgbClr val="CCCCCC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754880" y="914400"/>
            <a:ext cx="3931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humanoid robot in warehouse/manufacturing setting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$38B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 robot TAM by 2035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10312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Embodied Intelligence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models are moving from screens to physical bodies. The same AI that powers chatbots will power robots that see, navigate, and manipulate the real world.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Players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• Figure AI • Boston Dynamics • 1X Technologies • Agility Robotics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Applications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 • Warehousing &amp; logistics • Healthcare • Construction • Hazardous environments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Goldman Sachs, company announcements.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MOBILITY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754880" y="914400"/>
            <a:ext cx="3931920" cy="2286000"/>
          </a:xfrm>
          <a:prstGeom prst="rect">
            <a:avLst/>
          </a:prstGeom>
          <a:solidFill>
            <a:srgbClr val="E5E5E5"/>
          </a:solidFill>
          <a:ln w="12700">
            <a:solidFill>
              <a:srgbClr val="CCCCCC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754880" y="914400"/>
            <a:ext cx="3931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autonomous vehicle or Waymo on city street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2M+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autonomous rides per month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Safety Case Is Improving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Waymo's autonomous vehicles now have millions of miles of real-world data showing significantly fewer crashes than human drivers per mile.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Continuous Learning Flywheel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driven generates training data. More data → better models → safer driving → more cities → more data.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Leaders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(Alphabet) • Tesla FSD • Cruise (GM) • Baidu Apollo • Mobileye (Intel)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Waymo safety reports, company disclosures.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IN HEALTHCARE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solidFill>
            <a:srgbClr val="E5E5E5"/>
          </a:solidFill>
          <a:ln w="12700">
            <a:solidFill>
              <a:srgbClr val="CCCCCC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AI-assisted medical imaging or drug discovery visualization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2651760" cy="32004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Drug Discovery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2651760" cy="1280160"/>
          </a:xfrm>
          <a:prstGeom prst="rect">
            <a:avLst/>
          </a:prstGeom>
          <a:noFill/>
          <a:ln/>
        </p:spPr>
        <p:txBody>
          <a:bodyPr wrap="square" lIns="38100" tIns="63500" rIns="63500" bIns="3810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models can screen billions of molecular combinations in hours vs. years. Insilico Medicine, Recursion, and Isomorphic Labs leading the charge.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91840" y="2011680"/>
            <a:ext cx="2651760" cy="32004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Imaging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1840" y="2423160"/>
            <a:ext cx="2651760" cy="1280160"/>
          </a:xfrm>
          <a:prstGeom prst="rect">
            <a:avLst/>
          </a:prstGeom>
          <a:noFill/>
          <a:ln/>
        </p:spPr>
        <p:txBody>
          <a:bodyPr wrap="square" lIns="38100" tIns="63500" rIns="63500" bIns="3810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reads radiology scans with superhuman accuracy for specific conditions. FDA has approved 1,000+ AI medical devices.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2011680"/>
            <a:ext cx="2651760" cy="320040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Medicine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423160"/>
            <a:ext cx="2651760" cy="1280160"/>
          </a:xfrm>
          <a:prstGeom prst="rect">
            <a:avLst/>
          </a:prstGeom>
          <a:noFill/>
          <a:ln/>
        </p:spPr>
        <p:txBody>
          <a:bodyPr wrap="square" lIns="38100" tIns="63500" rIns="63500" bIns="3810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Genomic analysis + AI = personalized treatment plans. From one-size-fits-all to treatments tailored to your DNA.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FDA, Nature, company disclosures.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8" name="Text 16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57200" cy="457200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10058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capex cycle is real and financing itself.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$750B in combined 2026E capex. These companies have the cash flows to sustain it.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173736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Follow the atoms, not the bits (for now).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Semiconductors and memory are the immediate winners. Software's reckoning is underway.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457200" cy="457200"/>
          </a:xfrm>
          <a:prstGeom prst="ellipse">
            <a:avLst/>
          </a:prstGeom>
          <a:solidFill>
            <a:srgbClr val="00A85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246888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Bottlenecks shift.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it's power and HBM. Tomorrow it could be helium, packaging, or regulatory gridlock.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46120"/>
            <a:ext cx="457200" cy="457200"/>
          </a:xfrm>
          <a:prstGeom prst="ellipse">
            <a:avLst/>
          </a:prstGeom>
          <a:solidFill>
            <a:srgbClr val="008B8B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97280" y="320040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Get intentional about exposure.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not one trade — it's an entire supply chain. Pick your layer.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Markets — March 2026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March 2026</dc:title>
  <dc:subject>PptxGenJS Presentation</dc:subject>
  <dc:creator>AI Markets Research</dc:creator>
  <cp:lastModifiedBy>AI Markets Research</cp:lastModifiedBy>
  <cp:revision>1</cp:revision>
  <dcterms:created xsi:type="dcterms:W3CDTF">2026-03-25T05:27:08Z</dcterms:created>
  <dcterms:modified xsi:type="dcterms:W3CDTF">2026-03-25T05:27:08Z</dcterms:modified>
</cp:coreProperties>
</file>