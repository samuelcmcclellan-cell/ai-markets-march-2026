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HBM TAM</c:v>
                </c:pt>
              </c:strCache>
            </c:strRef>
          </c:tx>
          <c:spPr>
            <a:solidFill>
              <a:srgbClr val="F669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2025E</c:v>
                  </c:pt>
                  <c:pt idx="3">
                    <c:v>2026E</c:v>
                  </c:pt>
                  <c:pt idx="4">
                    <c:v>2028E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16</c:v>
                </c:pt>
                <c:pt idx="2">
                  <c:v>35</c:v>
                </c:pt>
                <c:pt idx="3">
                  <c:v>55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1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Markets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March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infrastructure, the market, and the risks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0" y="182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6693D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502920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35331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matters, the stack, the supply chain, power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5029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199339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Capex, semiconductors, memory, AI labs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73152" cy="502920"/>
          </a:xfrm>
          <a:prstGeom prst="rect">
            <a:avLst/>
          </a:prstGeom>
          <a:solidFill>
            <a:srgbClr val="00A85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77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63347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AI, hardware vs. software divergence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17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27355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question, supply chain, policy, politics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73152" cy="502920"/>
          </a:xfrm>
          <a:prstGeom prst="rect">
            <a:avLst/>
          </a:prstGeom>
          <a:solidFill>
            <a:srgbClr val="008B8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657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B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Frontier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9136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compute, humanoids, autonomous vehicles, healthcare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6693D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AI MATTERS TO MARKETS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is the largest capital expenditure cycle in history.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Amazon, Alphabet, Microsoft, Meta, and Oracle have guided to ~$325B in combined 2025 capex — with 2026 estimates exceeding $400B. Cumulative AI data center investment is on track to exceed $2 trillion by 2030.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touches every layer of the economy.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raw silicon in the ground, to the chips in a data center, to the AI agent booking your flight — this is a full-stack economic transformation.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 is repricing everything.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Semiconductor stocks (SOXX) and software stocks (IGV) are diverging sharply. The same AI wave is creating winners and losers simultaneously.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Company earnings guidance (Q4 2025/Q1 2026), Bloomberg, S&amp;P Global Market Intelligence. Data updated via web search, March 2026.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6693D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AI?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paradigms of artificial intelligence — each building on the last.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00" cy="0"/>
          </a:xfrm>
          <a:prstGeom prst="line">
            <a:avLst/>
          </a:prstGeom>
          <a:noFill/>
          <a:ln w="38100">
            <a:solidFill>
              <a:srgbClr val="F669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148840"/>
            <a:ext cx="182880" cy="18288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46888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54864" cy="12801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1950s–80s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Symbolic AI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Hand-coded rules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2148840"/>
            <a:ext cx="182880" cy="18288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4" name="Shape 12"/>
          <p:cNvSpPr/>
          <p:nvPr/>
        </p:nvSpPr>
        <p:spPr>
          <a:xfrm>
            <a:off x="2148840" y="246888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2468880"/>
            <a:ext cx="54864" cy="12801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224028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1990s–2010s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4028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240280" y="3108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pattern recognition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6280" y="2148840"/>
            <a:ext cx="182880" cy="18288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246888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2468880"/>
            <a:ext cx="54864" cy="12801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2012–2020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3192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31920" y="3108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at scale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148840"/>
            <a:ext cx="182880" cy="18288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6" name="Shape 24"/>
          <p:cNvSpPr/>
          <p:nvPr/>
        </p:nvSpPr>
        <p:spPr>
          <a:xfrm>
            <a:off x="5532120" y="246888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2468880"/>
            <a:ext cx="54864" cy="12801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8" name="Text 26"/>
          <p:cNvSpPr/>
          <p:nvPr/>
        </p:nvSpPr>
        <p:spPr>
          <a:xfrm>
            <a:off x="562356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2020–2024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2356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23560" y="3108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text, images, code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09560" y="2148840"/>
            <a:ext cx="182880" cy="182880"/>
          </a:xfrm>
          <a:prstGeom prst="ellipse">
            <a:avLst/>
          </a:prstGeom>
          <a:solidFill>
            <a:srgbClr val="F6693D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0" y="2468880"/>
            <a:ext cx="1554480" cy="1280160"/>
          </a:xfrm>
          <a:prstGeom prst="rect">
            <a:avLst/>
          </a:prstGeom>
          <a:solidFill>
            <a:srgbClr val="F6693D"/>
          </a:solidFill>
          <a:ln w="12700">
            <a:solidFill>
              <a:srgbClr val="F669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2025+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31520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315200" y="3108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multi-step action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6693D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silicon to autonomous agents — the complete ecosystem.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09728" cy="256032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&amp; Agents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91840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Salesforce, ServiceNow, Palantir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09728" cy="256032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&amp; AI Platforms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OpenAI, Anthropic, Google DeepMind, Meta AI, Mistral, xAI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109728" cy="2560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/ Data Centers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0" y="1783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AWS, Azure, GCP, Oracle, CoreWeave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109728" cy="2560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&amp; Networking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2057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Dell, HPE, Arista, Cisco, Coherent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109728" cy="256032"/>
          </a:xfrm>
          <a:prstGeom prst="rect">
            <a:avLst/>
          </a:prstGeom>
          <a:solidFill>
            <a:srgbClr val="00A85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331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/ OSAT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2331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ASE, Amkor, TSMC (in-house CoWoS)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109728" cy="256032"/>
          </a:xfrm>
          <a:prstGeom prst="rect">
            <a:avLst/>
          </a:prstGeom>
          <a:solidFill>
            <a:srgbClr val="00A85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606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91840" y="2606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 Hynix, Samsung, Micron (~95% market)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109728" cy="256032"/>
          </a:xfrm>
          <a:prstGeom prst="rect">
            <a:avLst/>
          </a:prstGeom>
          <a:solidFill>
            <a:srgbClr val="008B8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880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Design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91840" y="2880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NVIDIA, AMD, Broadcom, Qualcomm, Marvell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154680"/>
            <a:ext cx="109728" cy="256032"/>
          </a:xfrm>
          <a:prstGeom prst="rect">
            <a:avLst/>
          </a:prstGeom>
          <a:solidFill>
            <a:srgbClr val="008B8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154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/ Fabrication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91840" y="3154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TSMC (~90% advanced), Samsung Foundry, Intel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429000"/>
            <a:ext cx="109728" cy="256032"/>
          </a:xfrm>
          <a:prstGeom prst="rect">
            <a:avLst/>
          </a:prstGeom>
          <a:solidFill>
            <a:srgbClr val="E8478D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ASML (EUV monopoly), Applied Materials, Lam Research, Tokyo Electron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703320"/>
            <a:ext cx="109728" cy="256032"/>
          </a:xfrm>
          <a:prstGeom prst="rect">
            <a:avLst/>
          </a:prstGeom>
          <a:solidFill>
            <a:srgbClr val="E8478D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703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91840" y="3703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Silicon, rare earths, helium, neon, photoresists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Industry analysis, company filings.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6693D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CHIPS COME FROM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E5E5E5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stylized world map with labeled chip supply chain regions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14400"/>
            <a:ext cx="54864" cy="640080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Software — ~50% global chip design revenue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Limited advanced manufacturing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914400"/>
            <a:ext cx="54864" cy="6400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967728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Taiwan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Factory Floor — TSMC: ~90% most advanced chips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SINGLE POINT OF FAILURE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60020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600200"/>
            <a:ext cx="54864" cy="6400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Korea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Capital — Samsung + SK Hynix: ~70% DRAM, ~62% HBM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Helium dependence on Qatar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0" y="160020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600200"/>
            <a:ext cx="54864" cy="640080"/>
          </a:xfrm>
          <a:prstGeom prst="rect">
            <a:avLst/>
          </a:prstGeom>
          <a:solidFill>
            <a:srgbClr val="008B8B"/>
          </a:solidFill>
          <a:ln/>
        </p:spPr>
      </p:sp>
      <p:sp>
        <p:nvSpPr>
          <p:cNvPr id="18" name="Text 16"/>
          <p:cNvSpPr/>
          <p:nvPr/>
        </p:nvSpPr>
        <p:spPr>
          <a:xfrm>
            <a:off x="6967728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Gatekeeper — ASML: sole EUV manufacturer ($380M/machine)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Single-company dependency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26080"/>
            <a:ext cx="54864" cy="640080"/>
          </a:xfrm>
          <a:prstGeom prst="rect">
            <a:avLst/>
          </a:prstGeom>
          <a:solidFill>
            <a:srgbClr val="E8478D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2926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Backbone — ~50% of key semiconductor materials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Aging demographics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292608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926080"/>
            <a:ext cx="54864" cy="6400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4" name="Text 22"/>
          <p:cNvSpPr/>
          <p:nvPr/>
        </p:nvSpPr>
        <p:spPr>
          <a:xfrm>
            <a:off x="3401568" y="2926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Wildcard — Largest wafer capacity, mature nodes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Cut off from EUV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2926080"/>
            <a:ext cx="54864" cy="6400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926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East (Qatar)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Gas Supplier — ~1/3 of global helium supply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Hormuz/Iran risk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SIA, SEMI, company disclosures, USGS.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6693D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POWERING THE BUILDOUT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E5E5E5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data center or power plant aerial photo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Demand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 electricity consumption:</a:t>
            </a: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66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 TWh (2020) → 325 TWh (2024) → 500 TWh (2026E) → 1,000 TWh (2030E)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4.4% of US electricity, projected 12% by 2030. Grid queue: 2,600 GW waiting, 3–5 year wait.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Nuclear Deals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Microsoft: Three Mile Island restart (835 MW). Google Kairos SMR: 500 MW by 2030. Amazon: 3 nuclear investments. Oracle: nuclear-powered DCs. Meta: seeking 1–4 GW nuclear.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Gas Turbines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 Colossus 2: 41 gas turbines (1.2 GW behind-the-meter). GE Vernova: 80 GW backlog, $150B pending orders.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 TWh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 DC power consumption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2,600 GW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8580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interconnection queue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IEA, EIA, company announcements, PJM Interconnection.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IS BUYING ALL THESE CHIPS?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$325B+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75488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hyperscaler 2025 capex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Hyperscaler Capital Expenditure ($ Billions)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66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$100B+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Alphabet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$52.5B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66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$75B+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66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$80B+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$60-65B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66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$65B+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Oracle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66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$25B+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buyer base: AI labs (OpenAI, Anthropic), neoclouds (CoreWeave, Lambda), governments, enterprises.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Company earnings calls, Bloomberg estimates. Figures updated March 2026.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0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$680B SEMICONDUCTOR MARKET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+ Memory = ~70% of the market — AI's center of gravity.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7" name="Text 5"/>
          <p:cNvSpPr/>
          <p:nvPr/>
        </p:nvSpPr>
        <p:spPr>
          <a:xfrm>
            <a:off x="425196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(GPUs, CPUs, accelerators)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~$270B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560320" cy="2743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(DRAM + NAND + HBM)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~$190B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1005840" cy="274320"/>
          </a:xfrm>
          <a:prstGeom prst="rect">
            <a:avLst/>
          </a:prstGeom>
          <a:solidFill>
            <a:srgbClr val="00A854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2240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~$75B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640080" cy="274320"/>
          </a:xfrm>
          <a:prstGeom prst="rect">
            <a:avLst/>
          </a:prstGeom>
          <a:solidFill>
            <a:srgbClr val="008B8B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~$45B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822960" cy="274320"/>
          </a:xfrm>
          <a:prstGeom prst="rect">
            <a:avLst/>
          </a:prstGeom>
          <a:solidFill>
            <a:srgbClr val="E8478D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Optoelectronics &amp; Sensors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~$60B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463040" cy="2743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2" name="Text 20"/>
          <p:cNvSpPr/>
          <p:nvPr/>
        </p:nvSpPr>
        <p:spPr>
          <a:xfrm>
            <a:off x="205740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~$110B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+ Memory = ~$460B (~68% of total) — AI's center of gravity.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WSTS, SIA, Gartner, SEMI. Figures reflect 2025 estimates; 2026 total market forecast ~$720B.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MEMORY WALL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 is the binding constraint in AI infrastructure.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 Total Addressable Market ($B)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319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39319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691640"/>
            <a:ext cx="39319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~50%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75488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 Hynix HBM share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76656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~25%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76656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HBM share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54880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~25%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7548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Micron HBM share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54880" y="3246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Comparison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F66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DDR5: 50 GB/s  |  HBM3E: 1,200 GB/s  |  HBM4: 2,000+ GB/s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memory market: ~$190B in 2025. DRAM ASP forecast +20–30% YoY.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TrendForce, company disclosures, industry estimates. Market share approximate and shifting.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7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LAB RACE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private. Revenue growing explosively but profitability uncertain.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73152" cy="685800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~$300B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0" y="1463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$11.6B ARR (Dec 2025)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40280"/>
            <a:ext cx="73152" cy="6858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~$61B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00400" y="2651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0" y="2240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$875M ARR, Series 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17520"/>
            <a:ext cx="73152" cy="685800"/>
          </a:xfrm>
          <a:prstGeom prst="rect">
            <a:avLst/>
          </a:prstGeom>
          <a:solidFill>
            <a:srgbClr val="008B8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017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xAI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0" y="3017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B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~$50B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0040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0" y="3017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Elon Musk's AI venture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PitchBook, press reports, company statements. Valuations as of Q1 2026. Updated via web search.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00A85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CHATBOTS TO COWORKERS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0" y="182880"/>
            <a:ext cx="3931920" cy="1188720"/>
          </a:xfrm>
          <a:prstGeom prst="rect">
            <a:avLst/>
          </a:prstGeom>
          <a:solidFill>
            <a:srgbClr val="E5E5E5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754880" y="182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chatbot vs. agent comparison illustration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 (2023–2024)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9319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query, human-in-the-loop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types prompt, model responds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~1x compute per user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tool integration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(2025+)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39319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7830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autonomous workflows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use: browse, code, execute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66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10–100x more compute per user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replace entire workflows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 Inference compute demand explodes. Software vendors must adapt or be replaced.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Industry analysis, OpenAI, Anthropic product updates.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00A85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GREAT DIVERGENCE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Winners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3931920" cy="320040"/>
          </a:xfrm>
          <a:prstGeom prst="rect">
            <a:avLst/>
          </a:prstGeom>
          <a:solidFill>
            <a:srgbClr val="00A85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SOXX (Semiconductor ETF) YTD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8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+62%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Micron (MU)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8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+57%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8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+49%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 Hynix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8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TSMC (TSM)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Losers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39319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783080"/>
            <a:ext cx="3931920" cy="320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IGV (Software ETF) YTD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-30%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(CRM)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-27%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(ADBE)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843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-26%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2843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(SHOP)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1455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-20%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3145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 (INTU)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447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-17%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0" y="3447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(MSFT)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-11%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(NOW)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supercycle vs. SaaS decline — the same AI wave is bifurcating the market.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Bloomberg, as of March 2026. YTD returns. Updated via web search.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THIS A BUBBLE?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the Dotcom era (2000) to the AI buildout (2026).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Dotcom 2000 vs. AI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Dotcom 2000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Nasdaq P/E &gt; 100x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Speculative, revenue-free IPOs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Mag-7 P/E ~30x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but earnings-backed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Profitability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companies burned cash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unit economics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NVIDIA: 75% gross margin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Mag-7: 26% avg net margin (2x S&amp;P)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Supply/Demand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Build-it-and-they-will-come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Overbuilt fiber, underused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&gt; supply for GPUs, HBM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 lists, not gluts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Sheets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Leveraged, fragile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Dependent on equity markets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Mag-7: $500B+ net cash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Self-funding capex from operations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Growth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Hype-driven, collapse followed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often fictional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NVIDIA: $130B+ revenue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AI revenue doubling annually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repeat of 2000 — but pockets of excess exist.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Bloomberg, Refinitiv, company filings, Morningstar.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9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SUPPLY CHAIN FRAGILITY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critical risk vectors threatening the AI buildout.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320040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Concentration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651760" cy="1645920"/>
          </a:xfrm>
          <a:prstGeom prst="rect">
            <a:avLst/>
          </a:prstGeom>
          <a:noFill/>
          <a:ln/>
        </p:spPr>
        <p:txBody>
          <a:bodyPr wrap="square" lIns="38100" tIns="127000" rIns="63500" bIns="3810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Taiwan (TSMC): ~90% advanced chips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Korea: ~70% DRAM, ~62% HBM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 (ASML): sole EUV supplier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points of failure across the stack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3200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Reshoring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651760" cy="1645920"/>
          </a:xfrm>
          <a:prstGeom prst="rect">
            <a:avLst/>
          </a:prstGeom>
          <a:noFill/>
          <a:ln/>
        </p:spPr>
        <p:txBody>
          <a:bodyPr wrap="square" lIns="38100" tIns="127000" rIns="63500" bIns="3810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 Act: $52.7B authorized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~$33.7B committed so far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TSMC Arizona: delayed, over budget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years from meaningful capacity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320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/ Hormuz Crisis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651760" cy="1645920"/>
          </a:xfrm>
          <a:prstGeom prst="rect">
            <a:avLst/>
          </a:prstGeom>
          <a:noFill/>
          <a:ln/>
        </p:spPr>
        <p:txBody>
          <a:bodyPr wrap="square" lIns="38100" tIns="127000" rIns="63500" bIns="3810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Strait of Hormuz escalation risk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price spike to $100+/bbl scenario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Qatar helium supply disrupted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Korea: 64.7% helium from Qatar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Hormuz Scenarios:  </a:t>
            </a:r>
            <a:pPr indent="0" marL="0">
              <a:buNone/>
            </a:pPr>
            <a:r>
              <a:rPr lang="en-US" sz="900" dirty="0">
                <a:solidFill>
                  <a:srgbClr val="00A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resolution (minimal)  |  </a:t>
            </a:r>
            <a:pPr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2–8 weeks (spot +40–60%)  |  </a:t>
            </a:r>
            <a:pPr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damage at Ras Laffan (1+ year structural shortage)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SIA, CHIPS Act tracker, Reuters, USGS.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POLICY IS RESHAPING THE MAP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1188720"/>
            <a:ext cx="9144000" cy="28346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POLICY LANDSCAPE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51760" cy="219456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00200"/>
            <a:ext cx="2651760" cy="45720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Controls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$5.5B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H20 write-down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H100/H200/Blackwell banned from China. ASML advanced DUV tools banned. Diffusion rule limits chip exports to 140+ countries.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600200"/>
            <a:ext cx="2651760" cy="219456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600200"/>
            <a:ext cx="265176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Regulation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Aug 2026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2900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high-risk enforcement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2788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Fines up to €35M or 7% global revenue. Only 36% of enterprises feel prepared.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600200"/>
            <a:ext cx="2651760" cy="219456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1600200"/>
            <a:ext cx="265176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&amp; Reshoring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~90%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6364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China's rare earth processing share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63640" y="2788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controls ~90% of rare earth processing. SMIC 5nm yield ~20% vs. &gt;70% threshold.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069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has cleaved the AI supply chain into US-aligned and China-aligned blocs.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BIS, EU AI Act text, NVIDIA filings, CSIS.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POLITICAL HEADWINDS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$98B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754880" y="594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projects stalled by local opposition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0" y="137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439K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0" y="594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shortage in construction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54864" cy="4572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Opposition &amp; Moratoriums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Virginia, Wisconsin, South Carolina moratoriums on new data centers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54864" cy="4572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27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Permitting &amp; Regulatory Delays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NEPA adds 2–4 years. Grid queue: 2,600 GW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54864" cy="4572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579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Controls &amp; Trade Policy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bans, ASML restrictions, rare earth retaliation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54864" cy="4572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883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 &amp; Compliance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costs, data localization, CHIPS Act subsidies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 TIMELINE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1371600" cy="411480"/>
          </a:xfrm>
          <a:prstGeom prst="rect">
            <a:avLst/>
          </a:prstGeom>
          <a:solidFill>
            <a:srgbClr val="00A85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Selection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0" y="3520440"/>
            <a:ext cx="2743200" cy="4114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Review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12–48 mo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3520440"/>
            <a:ext cx="2560320" cy="411480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Interconnection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36–60 mo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132320" y="3520440"/>
            <a:ext cx="1554480" cy="411480"/>
          </a:xfrm>
          <a:prstGeom prst="rect">
            <a:avLst/>
          </a:prstGeom>
          <a:solidFill>
            <a:srgbClr val="008B8B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3520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18–36 mo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McKinsey, DOE, PJM, state government records.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008B8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FRONTIER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COMPUTING BEYOND EARTH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permits. Unlimited solar. Compute above borders.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914400"/>
          </a:xfrm>
          <a:prstGeom prst="rect">
            <a:avLst/>
          </a:prstGeom>
          <a:solidFill>
            <a:srgbClr val="E5E5E5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754880" y="8229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orbital data center or satellite constellation concept art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4114800" cy="45720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Starcloud (Lonestar)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H100 in space (Nov 2025), first LLM trained in orbit (Dec 2025), 88K-satellite filing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920240"/>
            <a:ext cx="411480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/ xAI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FCC application for up to 1M orbital DC satellites (Jan 2026) after $1.25T merger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34640"/>
            <a:ext cx="4114800" cy="45720"/>
          </a:xfrm>
          <a:prstGeom prst="rect">
            <a:avLst/>
          </a:prstGeom>
          <a:solidFill>
            <a:srgbClr val="00A85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Suncatcher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Radiation-hardened TPUs, 1.6 Tbps optical links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834640"/>
            <a:ext cx="4114800" cy="45720"/>
          </a:xfrm>
          <a:prstGeom prst="rect">
            <a:avLst/>
          </a:prstGeom>
          <a:solidFill>
            <a:srgbClr val="008B8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Aetherflux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$50M Series A, orbital compute + power beaming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FCC filings, company announcements, TechCrunch.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008B8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FRONTIER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PHYSICAL AI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Humanoids are the next inference endpoints.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solidFill>
            <a:srgbClr val="E5E5E5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humanoid robot in warehouse/manufacturing setting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$38B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Humanoid robot TAM by 2035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Embodied Intelligence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 are moving from screens to physical bodies. The same AI that powers chatbots will power robots that see, navigate, and manipulate the real world.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Players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 Optimus • Figure AI • Boston Dynamics • 1X Technologies • Agility Robotics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• Warehousing &amp; logistics • Healthcare • Construction • Hazardous environments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Goldman Sachs, company announcements.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008B8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FRONTIER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MOBILITY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solidFill>
            <a:srgbClr val="E5E5E5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autonomous vehicle or Waymo on city street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6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2M+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Waymo autonomous rides per month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Safety Case Is Improving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Waymo's autonomous vehicles now have millions of miles of real-world data showing significantly fewer crashes than human drivers per mile.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Continuous Learning Flywheel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mile driven generates training data. More data → better models → safer driving → more cities → more data.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Leaders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Waymo (Alphabet) • Tesla FSD • Cruise (GM) • Baidu Apollo • Mobileye (Intel)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Waymo safety reports, company disclosures.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645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008B8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64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FRONTIER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 HEALTHCARE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E5E5E5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AI-assisted medical imaging or drug discovery visualization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51760" cy="320040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Discovery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651760" cy="128016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can screen billions of molecular combinations in hours vs. years. Insilico Medicine, Recursion, and Isomorphic Labs leading the charge.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651760" cy="3200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423160"/>
            <a:ext cx="2651760" cy="128016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radiology scans with superhuman accuracy for specific conditions. FDA has approved 1,000+ AI medical devices.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2011680"/>
            <a:ext cx="2651760" cy="320040"/>
          </a:xfrm>
          <a:prstGeom prst="rect">
            <a:avLst/>
          </a:prstGeom>
          <a:solidFill>
            <a:srgbClr val="00A854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Medicine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423160"/>
            <a:ext cx="2651760" cy="128016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Genomic analysis + AI = personalized treatment plans. From one-size-fits-all to treatments tailored to your DNA.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FDA, Nature, company disclosures.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F669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capex cycle is real and financing itself.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$325B+ in 2025 capex. These companies have the cash flows to sustain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Follow the atoms, not the bits (for now).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Semiconductors and memory are the immediate winners. Software's reckoning is underway.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00A85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Bottlenecks shift.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it's power and HBM. Tomorrow it could be helium, packaging, or regulatory gridlock.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08B8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intentional about exposure.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not one trade — it's an entire supply chain. Pick your layer.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Markets — March 2026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572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ONLY. NOT INVESTMENT ADVICE. PAST PERFORMANCE IS NOT INDICATIVE OF FUTURE RESULTS.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503920" y="4645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Markets — March 2026</dc:title>
  <dc:subject>PptxGenJS Presentation</dc:subject>
  <dc:creator>AI Markets Research</dc:creator>
  <cp:lastModifiedBy>AI Markets Research</cp:lastModifiedBy>
  <cp:revision>1</cp:revision>
  <dcterms:created xsi:type="dcterms:W3CDTF">2026-03-25T05:13:40Z</dcterms:created>
  <dcterms:modified xsi:type="dcterms:W3CDTF">2026-03-25T05:13:40Z</dcterms:modified>
</cp:coreProperties>
</file>